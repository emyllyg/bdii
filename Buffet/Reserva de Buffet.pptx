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own Sugar" charset="1" panose="02000506000000020004"/>
      <p:regular r:id="rId17"/>
    </p:embeddedFont>
    <p:embeddedFont>
      <p:font typeface="Coterie" charset="1" panose="00000000000000000000"/>
      <p:regular r:id="rId18"/>
    </p:embeddedFont>
    <p:embeddedFont>
      <p:font typeface="Kulachat Serif" charset="1" panose="00000000000000000000"/>
      <p:regular r:id="rId19"/>
    </p:embeddedFont>
    <p:embeddedFont>
      <p:font typeface="Kulachat Serif Bold" charset="1" panose="00000000000000000000"/>
      <p:regular r:id="rId20"/>
    </p:embeddedFont>
    <p:embeddedFont>
      <p:font typeface="Kulachat Serif Italic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7078" y="1060322"/>
            <a:ext cx="8322164" cy="8258920"/>
          </a:xfrm>
          <a:custGeom>
            <a:avLst/>
            <a:gdLst/>
            <a:ahLst/>
            <a:cxnLst/>
            <a:rect r="r" b="b" t="t" l="l"/>
            <a:pathLst>
              <a:path h="8258920" w="8322164">
                <a:moveTo>
                  <a:pt x="0" y="0"/>
                </a:moveTo>
                <a:lnTo>
                  <a:pt x="8322164" y="0"/>
                </a:lnTo>
                <a:lnTo>
                  <a:pt x="8322164" y="8258920"/>
                </a:lnTo>
                <a:lnTo>
                  <a:pt x="0" y="825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32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460469" y="6366710"/>
            <a:ext cx="7367062" cy="21327"/>
          </a:xfrm>
          <a:prstGeom prst="line">
            <a:avLst/>
          </a:prstGeom>
          <a:ln cap="flat" w="38100">
            <a:solidFill>
              <a:srgbClr val="4D5A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235892" y="3715303"/>
            <a:ext cx="9816216" cy="21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76"/>
              </a:lnSpc>
            </a:pPr>
            <a:r>
              <a:rPr lang="en-US" sz="12768">
                <a:solidFill>
                  <a:srgbClr val="4D5A46"/>
                </a:solidFill>
                <a:latin typeface="Brown Sugar"/>
                <a:ea typeface="Brown Sugar"/>
                <a:cs typeface="Brown Sugar"/>
                <a:sym typeface="Brown Sugar"/>
              </a:rPr>
              <a:t>RESERVA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37254" y="5365076"/>
            <a:ext cx="4215913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C5A44F"/>
                </a:solidFill>
                <a:latin typeface="Coterie"/>
                <a:ea typeface="Coterie"/>
                <a:cs typeface="Coterie"/>
                <a:sym typeface="Coterie"/>
              </a:rPr>
              <a:t>De buffet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9112378" y="1203942"/>
            <a:ext cx="8322164" cy="7971680"/>
          </a:xfrm>
          <a:custGeom>
            <a:avLst/>
            <a:gdLst/>
            <a:ahLst/>
            <a:cxnLst/>
            <a:rect r="r" b="b" t="t" l="l"/>
            <a:pathLst>
              <a:path h="7971680" w="8322164">
                <a:moveTo>
                  <a:pt x="0" y="0"/>
                </a:moveTo>
                <a:lnTo>
                  <a:pt x="8322164" y="0"/>
                </a:lnTo>
                <a:lnTo>
                  <a:pt x="8322164" y="7971680"/>
                </a:lnTo>
                <a:lnTo>
                  <a:pt x="0" y="797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78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1933" y="4531277"/>
            <a:ext cx="5086067" cy="7078282"/>
          </a:xfrm>
          <a:custGeom>
            <a:avLst/>
            <a:gdLst/>
            <a:ahLst/>
            <a:cxnLst/>
            <a:rect r="r" b="b" t="t" l="l"/>
            <a:pathLst>
              <a:path h="7078282" w="5086067">
                <a:moveTo>
                  <a:pt x="0" y="0"/>
                </a:moveTo>
                <a:lnTo>
                  <a:pt x="5086067" y="0"/>
                </a:lnTo>
                <a:lnTo>
                  <a:pt x="5086067" y="7078282"/>
                </a:lnTo>
                <a:lnTo>
                  <a:pt x="0" y="7078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2872" y="-843072"/>
            <a:ext cx="5086067" cy="7078282"/>
          </a:xfrm>
          <a:custGeom>
            <a:avLst/>
            <a:gdLst/>
            <a:ahLst/>
            <a:cxnLst/>
            <a:rect r="r" b="b" t="t" l="l"/>
            <a:pathLst>
              <a:path h="7078282" w="5086067">
                <a:moveTo>
                  <a:pt x="5086067" y="7078282"/>
                </a:moveTo>
                <a:lnTo>
                  <a:pt x="0" y="7078282"/>
                </a:lnTo>
                <a:lnTo>
                  <a:pt x="0" y="0"/>
                </a:lnTo>
                <a:lnTo>
                  <a:pt x="5086067" y="0"/>
                </a:lnTo>
                <a:lnTo>
                  <a:pt x="5086067" y="7078282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7097" y="6464237"/>
            <a:ext cx="31362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24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5655574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8"/>
                </a:lnTo>
                <a:lnTo>
                  <a:pt x="3785590" y="5268408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127303" y="1352857"/>
            <a:ext cx="5167924" cy="7486992"/>
          </a:xfrm>
          <a:custGeom>
            <a:avLst/>
            <a:gdLst/>
            <a:ahLst/>
            <a:cxnLst/>
            <a:rect r="r" b="b" t="t" l="l"/>
            <a:pathLst>
              <a:path h="7486992" w="5167924">
                <a:moveTo>
                  <a:pt x="0" y="0"/>
                </a:moveTo>
                <a:lnTo>
                  <a:pt x="5167924" y="0"/>
                </a:lnTo>
                <a:lnTo>
                  <a:pt x="5167924" y="7486993"/>
                </a:lnTo>
                <a:lnTo>
                  <a:pt x="0" y="7486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51712" y="1497600"/>
            <a:ext cx="4928519" cy="7192828"/>
            <a:chOff x="0" y="0"/>
            <a:chExt cx="6571359" cy="959043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5"/>
            <a:srcRect l="14015" t="0" r="40341" b="0"/>
            <a:stretch>
              <a:fillRect/>
            </a:stretch>
          </p:blipFill>
          <p:spPr>
            <a:xfrm flipH="false" flipV="false">
              <a:off x="0" y="0"/>
              <a:ext cx="6571359" cy="9590438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3211176" y="4575572"/>
            <a:ext cx="7928429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-72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sistema de gerenciamento de  buffet fornece aos clientes  opções de cardápios e o cadastro de reservas. Com o objetivo de atrair novos clientes e incentivá-los a escolher nossos serviços.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11176" y="1181407"/>
            <a:ext cx="8916128" cy="4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Descrição geral do sistema:</a:t>
            </a:r>
          </a:p>
          <a:p>
            <a:pPr algn="l">
              <a:lnSpc>
                <a:spcPts val="11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7202" y="5143500"/>
            <a:ext cx="4710798" cy="6556019"/>
          </a:xfrm>
          <a:custGeom>
            <a:avLst/>
            <a:gdLst/>
            <a:ahLst/>
            <a:cxnLst/>
            <a:rect r="r" b="b" t="t" l="l"/>
            <a:pathLst>
              <a:path h="6556019" w="4710798">
                <a:moveTo>
                  <a:pt x="0" y="0"/>
                </a:moveTo>
                <a:lnTo>
                  <a:pt x="4710798" y="0"/>
                </a:lnTo>
                <a:lnTo>
                  <a:pt x="4710798" y="6556019"/>
                </a:lnTo>
                <a:lnTo>
                  <a:pt x="0" y="655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17496" y="1516174"/>
            <a:ext cx="9556447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Requisitos: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64949" y="4565015"/>
            <a:ext cx="1035820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sistema deve permitir a visualização do Menu.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sistema deve realizar o cadastro de Reservas.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633275">
            <a:off x="-253098" y="4921885"/>
            <a:ext cx="4710798" cy="6556019"/>
          </a:xfrm>
          <a:custGeom>
            <a:avLst/>
            <a:gdLst/>
            <a:ahLst/>
            <a:cxnLst/>
            <a:rect r="r" b="b" t="t" l="l"/>
            <a:pathLst>
              <a:path h="6556019" w="4710798">
                <a:moveTo>
                  <a:pt x="0" y="0"/>
                </a:moveTo>
                <a:lnTo>
                  <a:pt x="4710798" y="0"/>
                </a:lnTo>
                <a:lnTo>
                  <a:pt x="4710798" y="6556019"/>
                </a:lnTo>
                <a:lnTo>
                  <a:pt x="0" y="655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5655574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8"/>
                </a:lnTo>
                <a:lnTo>
                  <a:pt x="3785590" y="5268408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35541" y="857250"/>
            <a:ext cx="981691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Diagrama Entidade   </a:t>
            </a: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Relacionamento: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851111">
            <a:off x="-472662" y="5731915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7"/>
                </a:lnTo>
                <a:lnTo>
                  <a:pt x="3785590" y="5268407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12928" y="5731915"/>
            <a:ext cx="6166648" cy="1458419"/>
            <a:chOff x="0" y="0"/>
            <a:chExt cx="1624138" cy="3841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4138" cy="384110"/>
            </a:xfrm>
            <a:custGeom>
              <a:avLst/>
              <a:gdLst/>
              <a:ahLst/>
              <a:cxnLst/>
              <a:rect r="r" b="b" t="t" l="l"/>
              <a:pathLst>
                <a:path h="384110" w="1624138">
                  <a:moveTo>
                    <a:pt x="0" y="0"/>
                  </a:moveTo>
                  <a:lnTo>
                    <a:pt x="1624138" y="0"/>
                  </a:lnTo>
                  <a:lnTo>
                    <a:pt x="1624138" y="384110"/>
                  </a:lnTo>
                  <a:lnTo>
                    <a:pt x="0" y="384110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4138" cy="431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06490" y="5820270"/>
            <a:ext cx="5979800" cy="1269245"/>
          </a:xfrm>
          <a:custGeom>
            <a:avLst/>
            <a:gdLst/>
            <a:ahLst/>
            <a:cxnLst/>
            <a:rect r="r" b="b" t="t" l="l"/>
            <a:pathLst>
              <a:path h="1269245" w="5979800">
                <a:moveTo>
                  <a:pt x="0" y="0"/>
                </a:moveTo>
                <a:lnTo>
                  <a:pt x="5979800" y="0"/>
                </a:lnTo>
                <a:lnTo>
                  <a:pt x="5979800" y="1269245"/>
                </a:lnTo>
                <a:lnTo>
                  <a:pt x="0" y="1269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49" t="0" r="-4790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12928" y="857250"/>
            <a:ext cx="1627633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Definição de Dados (DDL):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2928" y="4278832"/>
            <a:ext cx="68082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Criação do banco de dados: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2928" y="7937500"/>
            <a:ext cx="732260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Para a criação do banco de dados é utilizado  o comando </a:t>
            </a:r>
            <a:r>
              <a:rPr lang="en-US" b="true" sz="3200" spc="-64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“CREATE DATABASE”</a:t>
            </a: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seguido do nome do banco de dados.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51049" y="5674765"/>
            <a:ext cx="680825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Já o comando </a:t>
            </a:r>
            <a:r>
              <a:rPr lang="en-US" b="true" sz="3200" spc="-64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“USE” </a:t>
            </a: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é utilizado para informa qual banco de dados será usado para executar os comandos seguintes.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75875" y="2692830"/>
            <a:ext cx="1059156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Para a criação das tabelas é utilizado o comando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“CREATE TABLE”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seguido do nome da tabela.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35929">
            <a:off x="13731411" y="4607070"/>
            <a:ext cx="5037937" cy="7011299"/>
          </a:xfrm>
          <a:custGeom>
            <a:avLst/>
            <a:gdLst/>
            <a:ahLst/>
            <a:cxnLst/>
            <a:rect r="r" b="b" t="t" l="l"/>
            <a:pathLst>
              <a:path h="7011299" w="5037937">
                <a:moveTo>
                  <a:pt x="0" y="0"/>
                </a:moveTo>
                <a:lnTo>
                  <a:pt x="5037937" y="0"/>
                </a:lnTo>
                <a:lnTo>
                  <a:pt x="5037937" y="7011299"/>
                </a:lnTo>
                <a:lnTo>
                  <a:pt x="0" y="701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035318" y="4121580"/>
            <a:ext cx="8872683" cy="2438304"/>
            <a:chOff x="0" y="0"/>
            <a:chExt cx="11830243" cy="325107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830243" cy="3251072"/>
              <a:chOff x="0" y="0"/>
              <a:chExt cx="2336838" cy="64218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336838" cy="642187"/>
              </a:xfrm>
              <a:custGeom>
                <a:avLst/>
                <a:gdLst/>
                <a:ahLst/>
                <a:cxnLst/>
                <a:rect r="r" b="b" t="t" l="l"/>
                <a:pathLst>
                  <a:path h="642187" w="2336838">
                    <a:moveTo>
                      <a:pt x="0" y="0"/>
                    </a:moveTo>
                    <a:lnTo>
                      <a:pt x="2336838" y="0"/>
                    </a:lnTo>
                    <a:lnTo>
                      <a:pt x="2336838" y="642187"/>
                    </a:lnTo>
                    <a:lnTo>
                      <a:pt x="0" y="642187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336838" cy="6898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44126" y="157480"/>
              <a:ext cx="11540240" cy="2925445"/>
            </a:xfrm>
            <a:custGeom>
              <a:avLst/>
              <a:gdLst/>
              <a:ahLst/>
              <a:cxnLst/>
              <a:rect r="r" b="b" t="t" l="l"/>
              <a:pathLst>
                <a:path h="2925445" w="11540240">
                  <a:moveTo>
                    <a:pt x="0" y="0"/>
                  </a:moveTo>
                  <a:lnTo>
                    <a:pt x="11540240" y="0"/>
                  </a:lnTo>
                  <a:lnTo>
                    <a:pt x="11540240" y="2925445"/>
                  </a:lnTo>
                  <a:lnTo>
                    <a:pt x="0" y="292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2" t="0" r="-1977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175875" y="838200"/>
            <a:ext cx="14299614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Criação das tabelas: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5875" y="6883734"/>
            <a:ext cx="1059156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A tabela Clientes possui os atributos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nome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telefone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e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e-mail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denominando o atributo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como um auto incremento (sequência de identificação) e chave primária (identificação da tabela). Os demais com seus tipos (varchar, int), números de caracteres e  não nulos.  Nessa tabela é possível armazenar os dados do cliente.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4587">
            <a:off x="-208970" y="4832949"/>
            <a:ext cx="4845835" cy="6743950"/>
          </a:xfrm>
          <a:custGeom>
            <a:avLst/>
            <a:gdLst/>
            <a:ahLst/>
            <a:cxnLst/>
            <a:rect r="r" b="b" t="t" l="l"/>
            <a:pathLst>
              <a:path h="6743950" w="4845835">
                <a:moveTo>
                  <a:pt x="4845835" y="0"/>
                </a:moveTo>
                <a:lnTo>
                  <a:pt x="0" y="0"/>
                </a:lnTo>
                <a:lnTo>
                  <a:pt x="0" y="6743951"/>
                </a:lnTo>
                <a:lnTo>
                  <a:pt x="4845835" y="6743951"/>
                </a:lnTo>
                <a:lnTo>
                  <a:pt x="484583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82825" y="1013470"/>
            <a:ext cx="12476706" cy="151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0"/>
              </a:lnSpc>
            </a:pPr>
            <a:r>
              <a:rPr lang="en-US" sz="88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Tabela Menu: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51830" y="6223147"/>
            <a:ext cx="9738697" cy="3035153"/>
            <a:chOff x="0" y="0"/>
            <a:chExt cx="12984929" cy="404687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984929" cy="4046870"/>
              <a:chOff x="0" y="0"/>
              <a:chExt cx="2434675" cy="75878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34675" cy="758789"/>
              </a:xfrm>
              <a:custGeom>
                <a:avLst/>
                <a:gdLst/>
                <a:ahLst/>
                <a:cxnLst/>
                <a:rect r="r" b="b" t="t" l="l"/>
                <a:pathLst>
                  <a:path h="758789" w="2434675">
                    <a:moveTo>
                      <a:pt x="0" y="0"/>
                    </a:moveTo>
                    <a:lnTo>
                      <a:pt x="2434675" y="0"/>
                    </a:lnTo>
                    <a:lnTo>
                      <a:pt x="2434675" y="758789"/>
                    </a:lnTo>
                    <a:lnTo>
                      <a:pt x="0" y="758789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434675" cy="8064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62370" y="168570"/>
              <a:ext cx="12662006" cy="3716152"/>
            </a:xfrm>
            <a:custGeom>
              <a:avLst/>
              <a:gdLst/>
              <a:ahLst/>
              <a:cxnLst/>
              <a:rect r="r" b="b" t="t" l="l"/>
              <a:pathLst>
                <a:path h="3716152" w="12662006">
                  <a:moveTo>
                    <a:pt x="0" y="0"/>
                  </a:moveTo>
                  <a:lnTo>
                    <a:pt x="12662006" y="0"/>
                  </a:lnTo>
                  <a:lnTo>
                    <a:pt x="12662006" y="3716151"/>
                  </a:lnTo>
                  <a:lnTo>
                    <a:pt x="0" y="3716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98" t="0" r="-1418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82825" y="2951807"/>
            <a:ext cx="1228505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A tabela Menu possui os atributos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Entradas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Prato Principal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Sobremesas 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e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 Bebidas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denominando o atributo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como um auto incremento (sequência de identificação) e chave primária (identificação da tabela). Os demais com seus tipos (varchar, int), números de caracteres e  não nulos.  Nessa tabela é possível armazenar o cardápio oferecido pelo buffet.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51294">
            <a:off x="13538627" y="3794627"/>
            <a:ext cx="5558402" cy="7735630"/>
          </a:xfrm>
          <a:custGeom>
            <a:avLst/>
            <a:gdLst/>
            <a:ahLst/>
            <a:cxnLst/>
            <a:rect r="r" b="b" t="t" l="l"/>
            <a:pathLst>
              <a:path h="7735630" w="5558402">
                <a:moveTo>
                  <a:pt x="0" y="0"/>
                </a:moveTo>
                <a:lnTo>
                  <a:pt x="5558402" y="0"/>
                </a:lnTo>
                <a:lnTo>
                  <a:pt x="5558402" y="7735630"/>
                </a:lnTo>
                <a:lnTo>
                  <a:pt x="0" y="7735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10891" y="6293591"/>
            <a:ext cx="8466219" cy="3403967"/>
            <a:chOff x="0" y="0"/>
            <a:chExt cx="11288292" cy="45386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288292" cy="4538622"/>
              <a:chOff x="0" y="0"/>
              <a:chExt cx="2491538" cy="100175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91538" cy="1001759"/>
              </a:xfrm>
              <a:custGeom>
                <a:avLst/>
                <a:gdLst/>
                <a:ahLst/>
                <a:cxnLst/>
                <a:rect r="r" b="b" t="t" l="l"/>
                <a:pathLst>
                  <a:path h="1001759" w="2491538">
                    <a:moveTo>
                      <a:pt x="0" y="0"/>
                    </a:moveTo>
                    <a:lnTo>
                      <a:pt x="2491538" y="0"/>
                    </a:lnTo>
                    <a:lnTo>
                      <a:pt x="2491538" y="1001759"/>
                    </a:lnTo>
                    <a:lnTo>
                      <a:pt x="0" y="1001759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491538" cy="10493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27768" y="134611"/>
              <a:ext cx="11022532" cy="4259796"/>
            </a:xfrm>
            <a:custGeom>
              <a:avLst/>
              <a:gdLst/>
              <a:ahLst/>
              <a:cxnLst/>
              <a:rect r="r" b="b" t="t" l="l"/>
              <a:pathLst>
                <a:path h="4259796" w="11022532">
                  <a:moveTo>
                    <a:pt x="0" y="0"/>
                  </a:moveTo>
                  <a:lnTo>
                    <a:pt x="11022532" y="0"/>
                  </a:lnTo>
                  <a:lnTo>
                    <a:pt x="11022532" y="4259796"/>
                  </a:lnTo>
                  <a:lnTo>
                    <a:pt x="0" y="4259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47" t="0" r="-1345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175875" y="838200"/>
            <a:ext cx="14299614" cy="15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tabela reserva: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5875" y="2792257"/>
            <a:ext cx="11777403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A tabela Reserva possui os atributos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 Data Evento,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Tipo Evento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N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úmero Convidados 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e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 Local Evento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, denominando o atributo 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como um auto incremento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 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(sequência de identificação) e chave primária (identificação da tabela), incluindo a chave estrangeira (relação entre tabelas)</a:t>
            </a:r>
            <a:r>
              <a:rPr lang="en-US" b="true" sz="3000" spc="-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 Clienteid</a:t>
            </a:r>
            <a:r>
              <a:rPr lang="en-US" sz="3000" spc="-60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. Os demais com seus tipos (varchar, int e date), números de caracteres e  não nulos.  Nessa tabela é possível armazenar os dados de cadastro de uma reserva.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851111">
            <a:off x="-472662" y="5731915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7"/>
                </a:lnTo>
                <a:lnTo>
                  <a:pt x="3785590" y="5268407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12928" y="5798185"/>
            <a:ext cx="9538498" cy="2077544"/>
            <a:chOff x="0" y="0"/>
            <a:chExt cx="12717998" cy="277005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717998" cy="2770059"/>
              <a:chOff x="0" y="0"/>
              <a:chExt cx="2512197" cy="54717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512197" cy="547172"/>
              </a:xfrm>
              <a:custGeom>
                <a:avLst/>
                <a:gdLst/>
                <a:ahLst/>
                <a:cxnLst/>
                <a:rect r="r" b="b" t="t" l="l"/>
                <a:pathLst>
                  <a:path h="547172" w="2512197">
                    <a:moveTo>
                      <a:pt x="0" y="0"/>
                    </a:moveTo>
                    <a:lnTo>
                      <a:pt x="2512197" y="0"/>
                    </a:lnTo>
                    <a:lnTo>
                      <a:pt x="2512197" y="547172"/>
                    </a:lnTo>
                    <a:lnTo>
                      <a:pt x="0" y="547172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512197" cy="5947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43817" y="127963"/>
              <a:ext cx="12407270" cy="2510844"/>
            </a:xfrm>
            <a:custGeom>
              <a:avLst/>
              <a:gdLst/>
              <a:ahLst/>
              <a:cxnLst/>
              <a:rect r="r" b="b" t="t" l="l"/>
              <a:pathLst>
                <a:path h="2510844" w="12407270">
                  <a:moveTo>
                    <a:pt x="0" y="0"/>
                  </a:moveTo>
                  <a:lnTo>
                    <a:pt x="12407270" y="0"/>
                  </a:lnTo>
                  <a:lnTo>
                    <a:pt x="12407270" y="2510845"/>
                  </a:lnTo>
                  <a:lnTo>
                    <a:pt x="0" y="251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8973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12928" y="8009079"/>
            <a:ext cx="11795440" cy="1971993"/>
          </a:xfrm>
          <a:custGeom>
            <a:avLst/>
            <a:gdLst/>
            <a:ahLst/>
            <a:cxnLst/>
            <a:rect r="r" b="b" t="t" l="l"/>
            <a:pathLst>
              <a:path h="1971993" w="11795440">
                <a:moveTo>
                  <a:pt x="0" y="0"/>
                </a:moveTo>
                <a:lnTo>
                  <a:pt x="11795440" y="0"/>
                </a:lnTo>
                <a:lnTo>
                  <a:pt x="11795440" y="1971993"/>
                </a:lnTo>
                <a:lnTo>
                  <a:pt x="0" y="1971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10648" y="4012026"/>
            <a:ext cx="11301259" cy="1652809"/>
          </a:xfrm>
          <a:custGeom>
            <a:avLst/>
            <a:gdLst/>
            <a:ahLst/>
            <a:cxnLst/>
            <a:rect r="r" b="b" t="t" l="l"/>
            <a:pathLst>
              <a:path h="1652809" w="11301259">
                <a:moveTo>
                  <a:pt x="0" y="0"/>
                </a:moveTo>
                <a:lnTo>
                  <a:pt x="11301259" y="0"/>
                </a:lnTo>
                <a:lnTo>
                  <a:pt x="11301259" y="1652809"/>
                </a:lnTo>
                <a:lnTo>
                  <a:pt x="0" y="1652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12928" y="857250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12928" y="3725121"/>
            <a:ext cx="68082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Inserção de dados: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12928" y="4565015"/>
            <a:ext cx="732260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O comando </a:t>
            </a:r>
            <a:r>
              <a:rPr lang="en-US" b="true" sz="3200" spc="-64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“INSERT INTO” </a:t>
            </a: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 insere dados em uma tabela.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2562" y="0"/>
            <a:ext cx="1714591" cy="3008957"/>
            <a:chOff x="0" y="0"/>
            <a:chExt cx="451579" cy="792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579" cy="792482"/>
            </a:xfrm>
            <a:custGeom>
              <a:avLst/>
              <a:gdLst/>
              <a:ahLst/>
              <a:cxnLst/>
              <a:rect r="r" b="b" t="t" l="l"/>
              <a:pathLst>
                <a:path h="792482" w="451579">
                  <a:moveTo>
                    <a:pt x="0" y="0"/>
                  </a:moveTo>
                  <a:lnTo>
                    <a:pt x="451579" y="0"/>
                  </a:lnTo>
                  <a:lnTo>
                    <a:pt x="451579" y="792482"/>
                  </a:lnTo>
                  <a:lnTo>
                    <a:pt x="0" y="792482"/>
                  </a:lnTo>
                  <a:close/>
                </a:path>
              </a:pathLst>
            </a:custGeom>
            <a:solidFill>
              <a:srgbClr val="4D5A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1579" cy="840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851111">
            <a:off x="-472662" y="5731915"/>
            <a:ext cx="3785590" cy="5268407"/>
          </a:xfrm>
          <a:custGeom>
            <a:avLst/>
            <a:gdLst/>
            <a:ahLst/>
            <a:cxnLst/>
            <a:rect r="r" b="b" t="t" l="l"/>
            <a:pathLst>
              <a:path h="5268407" w="3785590">
                <a:moveTo>
                  <a:pt x="3785590" y="0"/>
                </a:moveTo>
                <a:lnTo>
                  <a:pt x="0" y="0"/>
                </a:lnTo>
                <a:lnTo>
                  <a:pt x="0" y="5268407"/>
                </a:lnTo>
                <a:lnTo>
                  <a:pt x="3785590" y="5268407"/>
                </a:lnTo>
                <a:lnTo>
                  <a:pt x="378559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69928" y="5529368"/>
            <a:ext cx="8449874" cy="2231387"/>
            <a:chOff x="0" y="0"/>
            <a:chExt cx="11266499" cy="29751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1266499" cy="2975183"/>
              <a:chOff x="0" y="0"/>
              <a:chExt cx="1965648" cy="51907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65648" cy="519075"/>
              </a:xfrm>
              <a:custGeom>
                <a:avLst/>
                <a:gdLst/>
                <a:ahLst/>
                <a:cxnLst/>
                <a:rect r="r" b="b" t="t" l="l"/>
                <a:pathLst>
                  <a:path h="519075" w="1965648">
                    <a:moveTo>
                      <a:pt x="0" y="0"/>
                    </a:moveTo>
                    <a:lnTo>
                      <a:pt x="1965648" y="0"/>
                    </a:lnTo>
                    <a:lnTo>
                      <a:pt x="1965648" y="519075"/>
                    </a:lnTo>
                    <a:lnTo>
                      <a:pt x="0" y="519075"/>
                    </a:lnTo>
                    <a:close/>
                  </a:path>
                </a:pathLst>
              </a:custGeom>
              <a:solidFill>
                <a:srgbClr val="C5A44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965648" cy="566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49539" y="130991"/>
              <a:ext cx="10978412" cy="2736207"/>
            </a:xfrm>
            <a:custGeom>
              <a:avLst/>
              <a:gdLst/>
              <a:ahLst/>
              <a:cxnLst/>
              <a:rect r="r" b="b" t="t" l="l"/>
              <a:pathLst>
                <a:path h="2736207" w="10978412">
                  <a:moveTo>
                    <a:pt x="0" y="0"/>
                  </a:moveTo>
                  <a:lnTo>
                    <a:pt x="10978413" y="0"/>
                  </a:lnTo>
                  <a:lnTo>
                    <a:pt x="10978413" y="2736207"/>
                  </a:lnTo>
                  <a:lnTo>
                    <a:pt x="0" y="273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86" t="-19688" r="-47811" b="-3180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312928" y="857250"/>
            <a:ext cx="14975072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Comandos de Manipulação de Dados (DML):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2928" y="3929168"/>
            <a:ext cx="68082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Visualização das tabelas: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9928" y="4810548"/>
            <a:ext cx="73226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Tabela Cliente: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342" y="1200457"/>
            <a:ext cx="1393031" cy="132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</a:pPr>
            <a:r>
              <a:rPr lang="en-US" sz="7702">
                <a:solidFill>
                  <a:srgbClr val="C5A44F"/>
                </a:solidFill>
                <a:latin typeface="Brown Sugar"/>
                <a:ea typeface="Brown Sugar"/>
                <a:cs typeface="Brown Sugar"/>
                <a:sym typeface="Brown Sugar"/>
              </a:rPr>
              <a:t>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69928" y="8308969"/>
            <a:ext cx="73226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Tabela Menu: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65399" y="4329853"/>
            <a:ext cx="732260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Tabela Reserva: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97078" y="1060322"/>
            <a:ext cx="8322164" cy="8258920"/>
          </a:xfrm>
          <a:custGeom>
            <a:avLst/>
            <a:gdLst/>
            <a:ahLst/>
            <a:cxnLst/>
            <a:rect r="r" b="b" t="t" l="l"/>
            <a:pathLst>
              <a:path h="8258920" w="8322164">
                <a:moveTo>
                  <a:pt x="0" y="0"/>
                </a:moveTo>
                <a:lnTo>
                  <a:pt x="8322164" y="0"/>
                </a:lnTo>
                <a:lnTo>
                  <a:pt x="8322164" y="8258920"/>
                </a:lnTo>
                <a:lnTo>
                  <a:pt x="0" y="825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732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9112378" y="1203942"/>
            <a:ext cx="8322164" cy="7971680"/>
          </a:xfrm>
          <a:custGeom>
            <a:avLst/>
            <a:gdLst/>
            <a:ahLst/>
            <a:cxnLst/>
            <a:rect r="r" b="b" t="t" l="l"/>
            <a:pathLst>
              <a:path h="7971680" w="8322164">
                <a:moveTo>
                  <a:pt x="0" y="0"/>
                </a:moveTo>
                <a:lnTo>
                  <a:pt x="8322164" y="0"/>
                </a:lnTo>
                <a:lnTo>
                  <a:pt x="8322164" y="7971680"/>
                </a:lnTo>
                <a:lnTo>
                  <a:pt x="0" y="797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2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63983" y="4934122"/>
            <a:ext cx="4303986" cy="5989860"/>
          </a:xfrm>
          <a:custGeom>
            <a:avLst/>
            <a:gdLst/>
            <a:ahLst/>
            <a:cxnLst/>
            <a:rect r="r" b="b" t="t" l="l"/>
            <a:pathLst>
              <a:path h="5989860" w="4303986">
                <a:moveTo>
                  <a:pt x="4303987" y="0"/>
                </a:moveTo>
                <a:lnTo>
                  <a:pt x="0" y="0"/>
                </a:lnTo>
                <a:lnTo>
                  <a:pt x="0" y="5989860"/>
                </a:lnTo>
                <a:lnTo>
                  <a:pt x="4303987" y="5989860"/>
                </a:lnTo>
                <a:lnTo>
                  <a:pt x="430398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38325" y="3372022"/>
            <a:ext cx="11019327" cy="4072347"/>
            <a:chOff x="0" y="0"/>
            <a:chExt cx="2902210" cy="10725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2210" cy="1072552"/>
            </a:xfrm>
            <a:custGeom>
              <a:avLst/>
              <a:gdLst/>
              <a:ahLst/>
              <a:cxnLst/>
              <a:rect r="r" b="b" t="t" l="l"/>
              <a:pathLst>
                <a:path h="1072552" w="2902210">
                  <a:moveTo>
                    <a:pt x="0" y="0"/>
                  </a:moveTo>
                  <a:lnTo>
                    <a:pt x="2902210" y="0"/>
                  </a:lnTo>
                  <a:lnTo>
                    <a:pt x="2902210" y="1072552"/>
                  </a:lnTo>
                  <a:lnTo>
                    <a:pt x="0" y="1072552"/>
                  </a:lnTo>
                  <a:close/>
                </a:path>
              </a:pathLst>
            </a:custGeom>
            <a:solidFill>
              <a:srgbClr val="C5A4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02210" cy="1120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14525" y="3448222"/>
            <a:ext cx="7573475" cy="3921852"/>
            <a:chOff x="0" y="0"/>
            <a:chExt cx="1173329" cy="607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3329" cy="607598"/>
            </a:xfrm>
            <a:custGeom>
              <a:avLst/>
              <a:gdLst/>
              <a:ahLst/>
              <a:cxnLst/>
              <a:rect r="r" b="b" t="t" l="l"/>
              <a:pathLst>
                <a:path h="607598" w="1173329">
                  <a:moveTo>
                    <a:pt x="0" y="0"/>
                  </a:moveTo>
                  <a:lnTo>
                    <a:pt x="1173329" y="0"/>
                  </a:lnTo>
                  <a:lnTo>
                    <a:pt x="1173329" y="607598"/>
                  </a:lnTo>
                  <a:lnTo>
                    <a:pt x="0" y="607598"/>
                  </a:lnTo>
                  <a:close/>
                </a:path>
              </a:pathLst>
            </a:custGeom>
            <a:blipFill>
              <a:blip r:embed="rId4"/>
              <a:stretch>
                <a:fillRect l="-1784" t="0" r="-178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9070" y="1727373"/>
            <a:ext cx="10722856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0"/>
              </a:lnSpc>
              <a:spcBef>
                <a:spcPct val="0"/>
              </a:spcBef>
            </a:pPr>
            <a:r>
              <a:rPr lang="en-US" b="true" sz="8000" spc="-160">
                <a:solidFill>
                  <a:srgbClr val="4D5A46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Obrigada pela atenção!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6320" y="3681584"/>
            <a:ext cx="680825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  <a:spcBef>
                <a:spcPct val="0"/>
              </a:spcBef>
            </a:pPr>
            <a:r>
              <a:rPr lang="en-US" sz="5600" spc="-112">
                <a:solidFill>
                  <a:srgbClr val="4D5A46"/>
                </a:solidFill>
                <a:latin typeface="Kulachat Serif"/>
                <a:ea typeface="Kulachat Serif"/>
                <a:cs typeface="Kulachat Serif"/>
                <a:sym typeface="Kulachat Serif"/>
              </a:rPr>
              <a:t>Apresentado por: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6320" y="5069106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Emylly Grazyely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06320" y="5950849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Lara César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6320" y="6830959"/>
            <a:ext cx="680825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 i="true" spc="-72">
                <a:solidFill>
                  <a:srgbClr val="4D5A46"/>
                </a:solidFill>
                <a:latin typeface="Kulachat Serif Italics"/>
                <a:ea typeface="Kulachat Serif Italics"/>
                <a:cs typeface="Kulachat Serif Italics"/>
                <a:sym typeface="Kulachat Serif Italics"/>
              </a:rPr>
              <a:t>Maria Eduarda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DAGkciugk2Y</dc:identifier>
  <dcterms:modified xsi:type="dcterms:W3CDTF">2011-08-01T06:04:30Z</dcterms:modified>
  <cp:revision>1</cp:revision>
  <dc:title>Reserva de Buffet</dc:title>
</cp:coreProperties>
</file>